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omments/comment2.xml" ContentType="application/vnd.openxmlformats-officedocument.presentationml.comments+xml"/>
  <Override PartName="/ppt/charts/chart4.xml" ContentType="application/vnd.openxmlformats-officedocument.drawingml.chart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5" r:id="rId4"/>
    <p:sldMasterId id="2147483798" r:id="rId5"/>
  </p:sldMasterIdLst>
  <p:notesMasterIdLst>
    <p:notesMasterId r:id="rId15"/>
  </p:notesMasterIdLst>
  <p:handoutMasterIdLst>
    <p:handoutMasterId r:id="rId16"/>
  </p:handoutMasterIdLst>
  <p:sldIdLst>
    <p:sldId id="277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282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rnesto Cortes Larriva" initials="ECL" lastIdx="12" clrIdx="0"/>
  <p:cmAuthor id="1" name="Gerardo Zúñiga Jiménez" initials="GZJ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1F497D"/>
    <a:srgbClr val="B5B7B5"/>
    <a:srgbClr val="575A5D"/>
    <a:srgbClr val="8E9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15" autoAdjust="0"/>
    <p:restoredTop sz="94705" autoAdjust="0"/>
  </p:normalViewPr>
  <p:slideViewPr>
    <p:cSldViewPr>
      <p:cViewPr>
        <p:scale>
          <a:sx n="110" d="100"/>
          <a:sy n="110" d="100"/>
        </p:scale>
        <p:origin x="-1908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598"/>
    </p:cViewPr>
  </p:sorterViewPr>
  <p:notesViewPr>
    <p:cSldViewPr>
      <p:cViewPr varScale="1">
        <p:scale>
          <a:sx n="86" d="100"/>
          <a:sy n="86" d="100"/>
        </p:scale>
        <p:origin x="-309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ofttek\Projects\Nissan\Resultados\Resultados_Dinamico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ofttek\Projects\Nissan\Resultados\Resultados_Dinamico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ofttek\Projects\Nissan\Resultados\Resultados_Dinamico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Softtek\Projects\Nissan\Resultados\Resultados_Dinamic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[Resultados_Dinamico.xlsx]FileTypes!PivotTable3</c:name>
    <c:fmtId val="3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Source</a:t>
            </a:r>
            <a:r>
              <a:rPr lang="en-US" baseline="0"/>
              <a:t> Files Modified by Year</a:t>
            </a:r>
            <a:endParaRPr lang="en-US"/>
          </a:p>
        </c:rich>
      </c:tx>
      <c:layout/>
      <c:overlay val="0"/>
    </c:title>
    <c:autoTitleDeleted val="0"/>
    <c:pivotFmts>
      <c:pivotFmt>
        <c:idx val="0"/>
      </c:pivotFmt>
      <c:pivotFmt>
        <c:idx val="1"/>
      </c:pivotFmt>
      <c:pivotFmt>
        <c:idx val="2"/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FileTypes!$E$18</c:f>
              <c:strCache>
                <c:ptCount val="1"/>
                <c:pt idx="0">
                  <c:v>Total</c:v>
                </c:pt>
              </c:strCache>
            </c:strRef>
          </c:tx>
          <c:cat>
            <c:strRef>
              <c:f>FileTypes!$D$19:$D$31</c:f>
              <c:strCache>
                <c:ptCount val="12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</c:strCache>
            </c:strRef>
          </c:cat>
          <c:val>
            <c:numRef>
              <c:f>FileTypes!$E$19:$E$31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2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6444288"/>
        <c:axId val="146445824"/>
      </c:lineChart>
      <c:catAx>
        <c:axId val="146444288"/>
        <c:scaling>
          <c:orientation val="minMax"/>
        </c:scaling>
        <c:delete val="0"/>
        <c:axPos val="b"/>
        <c:majorTickMark val="none"/>
        <c:minorTickMark val="none"/>
        <c:tickLblPos val="nextTo"/>
        <c:crossAx val="146445824"/>
        <c:crosses val="autoZero"/>
        <c:auto val="1"/>
        <c:lblAlgn val="ctr"/>
        <c:lblOffset val="100"/>
        <c:noMultiLvlLbl val="0"/>
      </c:catAx>
      <c:valAx>
        <c:axId val="146445824"/>
        <c:scaling>
          <c:orientation val="minMax"/>
        </c:scaling>
        <c:delete val="0"/>
        <c:axPos val="l"/>
        <c:majorGridlines/>
        <c:title>
          <c:layout/>
          <c:overlay val="0"/>
        </c:title>
        <c:numFmt formatCode="General" sourceLinked="1"/>
        <c:majorTickMark val="none"/>
        <c:minorTickMark val="none"/>
        <c:tickLblPos val="nextTo"/>
        <c:crossAx val="146444288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[Resultados_Dinamico.xlsx]FileTypes!PivotTable4</c:name>
    <c:fmtId val="3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Modified File Percentage</a:t>
            </a:r>
            <a:r>
              <a:rPr lang="en-US" baseline="0"/>
              <a:t>  by Old</a:t>
            </a:r>
            <a:endParaRPr lang="en-US"/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</c:pivotFmts>
    <c:plotArea>
      <c:layout/>
      <c:pieChart>
        <c:varyColors val="1"/>
        <c:ser>
          <c:idx val="0"/>
          <c:order val="0"/>
          <c:tx>
            <c:strRef>
              <c:f>FileTypes!$F$43</c:f>
              <c:strCache>
                <c:ptCount val="1"/>
                <c:pt idx="0">
                  <c:v>Total</c:v>
                </c:pt>
              </c:strCache>
            </c:strRef>
          </c:tx>
          <c:explosion val="25"/>
          <c:dLbls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FileTypes!$E$44:$E$51</c:f>
              <c:strCache>
                <c:ptCount val="7"/>
                <c:pt idx="0">
                  <c:v>Modified in 30 days</c:v>
                </c:pt>
                <c:pt idx="1">
                  <c:v>Modified in 365 days</c:v>
                </c:pt>
                <c:pt idx="2">
                  <c:v>Modified in 7 days</c:v>
                </c:pt>
                <c:pt idx="3">
                  <c:v>Modified today</c:v>
                </c:pt>
                <c:pt idx="4">
                  <c:v>Older than 10 years</c:v>
                </c:pt>
                <c:pt idx="5">
                  <c:v>Older than 3 years</c:v>
                </c:pt>
                <c:pt idx="6">
                  <c:v>Older than 5 years</c:v>
                </c:pt>
              </c:strCache>
            </c:strRef>
          </c:cat>
          <c:val>
            <c:numRef>
              <c:f>FileTypes!$F$44:$F$51</c:f>
              <c:numCache>
                <c:formatCode>0.00%</c:formatCode>
                <c:ptCount val="7"/>
                <c:pt idx="0">
                  <c:v>0.44</c:v>
                </c:pt>
                <c:pt idx="1">
                  <c:v>0.44</c:v>
                </c:pt>
                <c:pt idx="2">
                  <c:v>0.44</c:v>
                </c:pt>
                <c:pt idx="3">
                  <c:v>0</c:v>
                </c:pt>
                <c:pt idx="4">
                  <c:v>0.11</c:v>
                </c:pt>
                <c:pt idx="5">
                  <c:v>0.56000000000000005</c:v>
                </c:pt>
                <c:pt idx="6">
                  <c:v>0.22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[Resultados_Dinamico.xlsx]DeadCode!PivotTable1</c:name>
    <c:fmtId val="3"/>
  </c:pivotSource>
  <c:chart>
    <c:title>
      <c:tx>
        <c:rich>
          <a:bodyPr/>
          <a:lstStyle/>
          <a:p>
            <a:pPr>
              <a:defRPr/>
            </a:pPr>
            <a:r>
              <a:rPr lang="en-US" dirty="0" err="1" smtClean="0"/>
              <a:t>Cantidad</a:t>
            </a:r>
            <a:r>
              <a:rPr lang="en-US" dirty="0" smtClean="0"/>
              <a:t> de </a:t>
            </a: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Muerto</a:t>
            </a:r>
            <a:r>
              <a:rPr lang="en-US" baseline="0" dirty="0" smtClean="0"/>
              <a:t> vs </a:t>
            </a:r>
            <a:r>
              <a:rPr lang="en-US" baseline="0" dirty="0" err="1" smtClean="0"/>
              <a:t>Activo</a:t>
            </a:r>
            <a:endParaRPr lang="en-US" dirty="0"/>
          </a:p>
        </c:rich>
      </c:tx>
      <c:layout>
        <c:manualLayout>
          <c:xMode val="edge"/>
          <c:yMode val="edge"/>
          <c:x val="8.6189255928807731E-2"/>
          <c:y val="2.8571439284379184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</c:pivotFmt>
      <c:pivotFmt>
        <c:idx val="2"/>
        <c:marker>
          <c:symbol val="none"/>
        </c:marker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DeadCode!$M$2</c:f>
              <c:strCache>
                <c:ptCount val="1"/>
                <c:pt idx="0">
                  <c:v>Sum of Live</c:v>
                </c:pt>
              </c:strCache>
            </c:strRef>
          </c:tx>
          <c:cat>
            <c:strRef>
              <c:f>DeadCode!$L$3:$L$11</c:f>
              <c:strCache>
                <c:ptCount val="8"/>
                <c:pt idx="0">
                  <c:v>CONSTANTS</c:v>
                </c:pt>
                <c:pt idx="1">
                  <c:v>TYPES</c:v>
                </c:pt>
                <c:pt idx="2">
                  <c:v> VARIABLES</c:v>
                </c:pt>
                <c:pt idx="3">
                  <c:v> PARAMETERS</c:v>
                </c:pt>
                <c:pt idx="4">
                  <c:v>TYPE FIELD</c:v>
                </c:pt>
                <c:pt idx="5">
                  <c:v>ENUMS</c:v>
                </c:pt>
                <c:pt idx="6">
                  <c:v>ENUM CONSTANTS</c:v>
                </c:pt>
                <c:pt idx="7">
                  <c:v>PROCEDURS</c:v>
                </c:pt>
              </c:strCache>
            </c:strRef>
          </c:cat>
          <c:val>
            <c:numRef>
              <c:f>DeadCode!$M$3:$M$11</c:f>
              <c:numCache>
                <c:formatCode>General</c:formatCode>
                <c:ptCount val="8"/>
                <c:pt idx="0">
                  <c:v>14</c:v>
                </c:pt>
                <c:pt idx="1">
                  <c:v>1</c:v>
                </c:pt>
                <c:pt idx="2">
                  <c:v>143</c:v>
                </c:pt>
                <c:pt idx="3">
                  <c:v>201</c:v>
                </c:pt>
                <c:pt idx="4">
                  <c:v>3</c:v>
                </c:pt>
                <c:pt idx="5">
                  <c:v>4</c:v>
                </c:pt>
                <c:pt idx="6">
                  <c:v>10</c:v>
                </c:pt>
                <c:pt idx="7">
                  <c:v>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DeadCode!$N$2</c:f>
              <c:strCache>
                <c:ptCount val="1"/>
                <c:pt idx="0">
                  <c:v>Sum of Dead</c:v>
                </c:pt>
              </c:strCache>
            </c:strRef>
          </c:tx>
          <c:cat>
            <c:strRef>
              <c:f>DeadCode!$L$3:$L$11</c:f>
              <c:strCache>
                <c:ptCount val="8"/>
                <c:pt idx="0">
                  <c:v>CONSTANTS</c:v>
                </c:pt>
                <c:pt idx="1">
                  <c:v>TYPES</c:v>
                </c:pt>
                <c:pt idx="2">
                  <c:v> VARIABLES</c:v>
                </c:pt>
                <c:pt idx="3">
                  <c:v> PARAMETERS</c:v>
                </c:pt>
                <c:pt idx="4">
                  <c:v>TYPE FIELD</c:v>
                </c:pt>
                <c:pt idx="5">
                  <c:v>ENUMS</c:v>
                </c:pt>
                <c:pt idx="6">
                  <c:v>ENUM CONSTANTS</c:v>
                </c:pt>
                <c:pt idx="7">
                  <c:v>PROCEDURS</c:v>
                </c:pt>
              </c:strCache>
            </c:strRef>
          </c:cat>
          <c:val>
            <c:numRef>
              <c:f>DeadCode!$N$3:$N$11</c:f>
              <c:numCache>
                <c:formatCode>General</c:formatCode>
                <c:ptCount val="8"/>
                <c:pt idx="0">
                  <c:v>2</c:v>
                </c:pt>
                <c:pt idx="1">
                  <c:v>0</c:v>
                </c:pt>
                <c:pt idx="2">
                  <c:v>36</c:v>
                </c:pt>
                <c:pt idx="3">
                  <c:v>46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19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8854272"/>
        <c:axId val="148855808"/>
      </c:lineChart>
      <c:catAx>
        <c:axId val="148854272"/>
        <c:scaling>
          <c:orientation val="minMax"/>
        </c:scaling>
        <c:delete val="0"/>
        <c:axPos val="b"/>
        <c:majorTickMark val="none"/>
        <c:minorTickMark val="none"/>
        <c:tickLblPos val="nextTo"/>
        <c:crossAx val="148855808"/>
        <c:crosses val="autoZero"/>
        <c:auto val="1"/>
        <c:lblAlgn val="ctr"/>
        <c:lblOffset val="100"/>
        <c:noMultiLvlLbl val="0"/>
      </c:catAx>
      <c:valAx>
        <c:axId val="148855808"/>
        <c:scaling>
          <c:orientation val="minMax"/>
        </c:scaling>
        <c:delete val="0"/>
        <c:axPos val="l"/>
        <c:majorGridlines/>
        <c:title>
          <c:layout/>
          <c:overlay val="0"/>
        </c:title>
        <c:numFmt formatCode="General" sourceLinked="1"/>
        <c:majorTickMark val="none"/>
        <c:minorTickMark val="none"/>
        <c:tickLblPos val="nextTo"/>
        <c:crossAx val="148854272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zero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[Resultados_Dinamico.xlsx]DesignQuality!PivotTable2</c:name>
    <c:fmtId val="3"/>
  </c:pivotSource>
  <c:chart>
    <c:title>
      <c:tx>
        <c:rich>
          <a:bodyPr/>
          <a:lstStyle/>
          <a:p>
            <a:pPr>
              <a:defRPr/>
            </a:pPr>
            <a:r>
              <a:rPr lang="en-US" dirty="0" err="1" smtClean="0"/>
              <a:t>Código</a:t>
            </a:r>
            <a:r>
              <a:rPr lang="en-US" dirty="0" smtClean="0"/>
              <a:t> </a:t>
            </a:r>
            <a:r>
              <a:rPr lang="en-US" dirty="0" err="1" smtClean="0"/>
              <a:t>Funcional</a:t>
            </a:r>
            <a:r>
              <a:rPr lang="en-US" baseline="0" dirty="0" smtClean="0"/>
              <a:t> vs </a:t>
            </a:r>
            <a:r>
              <a:rPr lang="en-US" baseline="0" dirty="0" err="1" smtClean="0"/>
              <a:t>Comentarios</a:t>
            </a:r>
            <a:endParaRPr lang="en-US" dirty="0"/>
          </a:p>
        </c:rich>
      </c:tx>
      <c:layout>
        <c:manualLayout>
          <c:xMode val="edge"/>
          <c:yMode val="edge"/>
          <c:x val="6.8888888888888888E-2"/>
          <c:y val="8.7962962962962965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</c:dLbl>
      </c:pivotFmt>
    </c:pivotFmts>
    <c:plotArea>
      <c:layout/>
      <c:pieChart>
        <c:varyColors val="1"/>
        <c:ser>
          <c:idx val="0"/>
          <c:order val="0"/>
          <c:tx>
            <c:strRef>
              <c:f>DesignQuality!$F$62</c:f>
              <c:strCache>
                <c:ptCount val="1"/>
                <c:pt idx="0">
                  <c:v>Total</c:v>
                </c:pt>
              </c:strCache>
            </c:strRef>
          </c:tx>
          <c:explosion val="25"/>
          <c:dPt>
            <c:idx val="0"/>
            <c:bubble3D val="0"/>
            <c:spPr>
              <a:solidFill>
                <a:schemeClr val="tx2">
                  <a:lumMod val="60000"/>
                  <a:lumOff val="40000"/>
                </a:schemeClr>
              </a:solidFill>
            </c:spPr>
          </c:dPt>
          <c:dPt>
            <c:idx val="1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</c:spPr>
          </c:dPt>
          <c:dPt>
            <c:idx val="2"/>
            <c:bubble3D val="0"/>
            <c:spPr>
              <a:solidFill>
                <a:schemeClr val="accent3">
                  <a:lumMod val="40000"/>
                  <a:lumOff val="60000"/>
                </a:schemeClr>
              </a:solidFill>
            </c:spPr>
          </c:dPt>
          <c:dLbls>
            <c:txPr>
              <a:bodyPr/>
              <a:lstStyle/>
              <a:p>
                <a:pPr>
                  <a:defRPr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DesignQuality!$E$63:$E$66</c:f>
              <c:strCache>
                <c:ptCount val="3"/>
                <c:pt idx="0">
                  <c:v>Lines of code (LLOC)</c:v>
                </c:pt>
                <c:pt idx="1">
                  <c:v>Lines of comment (LLOC')</c:v>
                </c:pt>
                <c:pt idx="2">
                  <c:v>Lines of whitespace (LLOW)</c:v>
                </c:pt>
              </c:strCache>
            </c:strRef>
          </c:cat>
          <c:val>
            <c:numRef>
              <c:f>DesignQuality!$F$63:$F$66</c:f>
              <c:numCache>
                <c:formatCode>General</c:formatCode>
                <c:ptCount val="3"/>
                <c:pt idx="0">
                  <c:v>1939</c:v>
                </c:pt>
                <c:pt idx="1">
                  <c:v>328</c:v>
                </c:pt>
                <c:pt idx="2">
                  <c:v>547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8-28T20:01:18.043" idx="1">
    <p:pos x="1214" y="3363"/>
    <p:text> - Work effort estimate Man-months - aqui pones que 100 lines/day, asumiria que tardamso 52 dias en reescribir la aplicacion?, no esta muy bajo este benchmark?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8-28T20:08:28.284" idx="2">
    <p:pos x="346" y="2554"/>
    <p:text>Todo el codigo muerto debe de ser eliminado de la aplicacion al momento de reescribirla?, tendremos que emplear un esfuerzo para dejar la aplicacion limpi, estable y escalable?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8-28T20:08:55.813" idx="3">
    <p:pos x="629" y="1815"/>
    <p:text>solo podremos aprovechar el 4% del codigo actual?</p:text>
  </p:cm>
  <p:cm authorId="0" dt="2014-08-28T20:12:45.023" idx="4">
    <p:pos x="295" y="3201"/>
    <p:text>Entiendo por el pie que solo el 69% del codigo de la aplicacion es codigo funcional; de este 69% es del cual solo se puede aprovechar el 4%?
no hay manera de poder aprovechar la funcionalidad o reglas de negocio sin tener que reescribir?</p:text>
  </p:cm>
  <p:cm authorId="0" dt="2014-08-28T20:15:43.348" idx="5">
    <p:pos x="3302" y="1970"/>
    <p:text>Duda, cual es la relacion para suponer que dado a que el 86% de la aplicacion esta hecha con procedures de baja complejidad exista probabilidad de obtener un error?
es parte de la estrategia que bajaremos el % de procedures sin complejidad alta, al momento de arreglar algun error que pueda surgir tendremos menos probabilidades de obtener un error?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8-28T20:17:13.367" idx="6">
    <p:pos x="2254" y="1790"/>
    <p:text>El codigo comun es el unico que puede ser reutilizado? o es estrategia que haremos que mas partes del codigo (consolidando el repetido) esta app pueda ser mas sencilla y por lo tanto esa seccion de codigo pueda ser reutilizada en futuros planes de transformacion?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8-28T20:18:20.184" idx="7">
    <p:pos x="4704" y="1695"/>
    <p:text>es esta un area de oportunidad o un finding? para optimizar la aplicacion?</p:text>
  </p:cm>
  <p:cm authorId="0" dt="2014-08-28T20:18:33.528" idx="8">
    <p:pos x="3662" y="2657"/>
    <p:text>ahorita no funciona asi?</p:text>
  </p:cm>
  <p:cm authorId="0" dt="2014-08-28T20:19:09.361" idx="9">
    <p:pos x="96" y="2984"/>
    <p:text>podemos sugerir algo para que la aplicacion deje de utiliar excel y podamos crear algo o buscar algo del mercado para optimizar este funcionamiento?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4-08-28T20:20:07.854" idx="10">
    <p:pos x="27" y="2787"/>
    <p:text>Esta estimacion es solo de ma migracion?</p:text>
  </p:cm>
  <p:cm authorId="0" dt="2014-08-28T20:21:04.909" idx="11">
    <p:pos x="164" y="2167"/>
    <p:text>Esta es una recomendacion que no fue solicitada, cierto? imagino ya esta dentro de la estimacion para migrar la aplicacion el mejorar este modulo de Modelos?</p:text>
  </p:cm>
  <p:cm authorId="0" dt="2014-08-28T20:21:21.129" idx="12">
    <p:pos x="156" y="2374"/>
    <p:text>Es este el nuevo modulo?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C31A4-E588-4D7D-8556-3E7A80E3618E}" type="datetimeFigureOut">
              <a:rPr lang="es-MX" smtClean="0"/>
              <a:t>29/08/2014</a:t>
            </a:fld>
            <a:endParaRPr lang="es-MX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78EEE-C883-43D9-A467-67276DDB57ED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787014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B0C0AB8-234C-4221-B0DB-DCE2DDF45C4A}" type="datetimeFigureOut">
              <a:rPr lang="es-MX"/>
              <a:pPr>
                <a:defRPr/>
              </a:pPr>
              <a:t>29/08/2014</a:t>
            </a:fld>
            <a:endParaRPr lang="es-MX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MX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s-MX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s-MX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237F6BD-38D0-4C68-8BC5-3735B63F5FA1}" type="slidenum">
              <a:rPr lang="es-MX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00210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7097" cy="6875607"/>
          </a:xfrm>
          <a:prstGeom prst="rect">
            <a:avLst/>
          </a:prstGeom>
        </p:spPr>
      </p:pic>
      <p:sp>
        <p:nvSpPr>
          <p:cNvPr id="53" name="Title 15"/>
          <p:cNvSpPr>
            <a:spLocks noGrp="1"/>
          </p:cNvSpPr>
          <p:nvPr>
            <p:ph type="title" hasCustomPrompt="1"/>
          </p:nvPr>
        </p:nvSpPr>
        <p:spPr>
          <a:xfrm>
            <a:off x="4601260" y="3770111"/>
            <a:ext cx="4319046" cy="161272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800" b="1" spc="-150" baseline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s-MX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4595169" y="5426295"/>
            <a:ext cx="4325137" cy="594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80000"/>
              </a:lnSpc>
              <a:buNone/>
              <a:defRPr sz="18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0" name="Rectangle 49"/>
          <p:cNvSpPr/>
          <p:nvPr userDrawn="1"/>
        </p:nvSpPr>
        <p:spPr>
          <a:xfrm>
            <a:off x="8920306" y="4869160"/>
            <a:ext cx="226495" cy="46593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  <p:pic>
        <p:nvPicPr>
          <p:cNvPr id="1030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540569" cy="13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9754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34979" cy="6873376"/>
          </a:xfrm>
          <a:prstGeom prst="rect">
            <a:avLst/>
          </a:prstGeom>
        </p:spPr>
      </p:pic>
      <p:sp>
        <p:nvSpPr>
          <p:cNvPr id="53" name="Title 15"/>
          <p:cNvSpPr>
            <a:spLocks noGrp="1"/>
          </p:cNvSpPr>
          <p:nvPr>
            <p:ph type="title" hasCustomPrompt="1"/>
          </p:nvPr>
        </p:nvSpPr>
        <p:spPr>
          <a:xfrm>
            <a:off x="4601260" y="3770111"/>
            <a:ext cx="4319046" cy="161272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800" b="1" spc="-150" baseline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s-MX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4595169" y="5426295"/>
            <a:ext cx="4325137" cy="594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80000"/>
              </a:lnSpc>
              <a:buNone/>
              <a:defRPr sz="18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0" name="Rectangle 49"/>
          <p:cNvSpPr/>
          <p:nvPr userDrawn="1"/>
        </p:nvSpPr>
        <p:spPr>
          <a:xfrm>
            <a:off x="8920306" y="4869160"/>
            <a:ext cx="226495" cy="46593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0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540569" cy="13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118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51"/>
            <a:ext cx="9144000" cy="6870701"/>
          </a:xfrm>
          <a:prstGeom prst="rect">
            <a:avLst/>
          </a:prstGeom>
        </p:spPr>
      </p:pic>
      <p:sp>
        <p:nvSpPr>
          <p:cNvPr id="53" name="Title 15"/>
          <p:cNvSpPr>
            <a:spLocks noGrp="1"/>
          </p:cNvSpPr>
          <p:nvPr>
            <p:ph type="title" hasCustomPrompt="1"/>
          </p:nvPr>
        </p:nvSpPr>
        <p:spPr>
          <a:xfrm>
            <a:off x="4601260" y="3770111"/>
            <a:ext cx="4319046" cy="161272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800" b="1" spc="-150" baseline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s-MX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4595169" y="5426295"/>
            <a:ext cx="4325137" cy="594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80000"/>
              </a:lnSpc>
              <a:buNone/>
              <a:defRPr sz="18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0" name="Rectangle 49"/>
          <p:cNvSpPr/>
          <p:nvPr userDrawn="1"/>
        </p:nvSpPr>
        <p:spPr>
          <a:xfrm>
            <a:off x="8920306" y="4869160"/>
            <a:ext cx="226495" cy="46593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accent5"/>
              </a:solidFill>
            </a:endParaRPr>
          </a:p>
        </p:txBody>
      </p:sp>
      <p:pic>
        <p:nvPicPr>
          <p:cNvPr id="10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540569" cy="13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676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" y="0"/>
            <a:ext cx="9142857" cy="6868102"/>
          </a:xfrm>
          <a:prstGeom prst="rect">
            <a:avLst/>
          </a:prstGeom>
        </p:spPr>
      </p:pic>
      <p:sp>
        <p:nvSpPr>
          <p:cNvPr id="53" name="Title 15"/>
          <p:cNvSpPr>
            <a:spLocks noGrp="1"/>
          </p:cNvSpPr>
          <p:nvPr>
            <p:ph type="title" hasCustomPrompt="1"/>
          </p:nvPr>
        </p:nvSpPr>
        <p:spPr>
          <a:xfrm>
            <a:off x="4601260" y="3770111"/>
            <a:ext cx="4319046" cy="161272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800" b="1" spc="-150" baseline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s-MX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4595169" y="5426295"/>
            <a:ext cx="4325137" cy="594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80000"/>
              </a:lnSpc>
              <a:buNone/>
              <a:defRPr sz="18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0" name="Rectangle 49"/>
          <p:cNvSpPr/>
          <p:nvPr userDrawn="1"/>
        </p:nvSpPr>
        <p:spPr>
          <a:xfrm>
            <a:off x="8920306" y="4869160"/>
            <a:ext cx="226495" cy="465937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0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540569" cy="13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703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9144000" cy="6871320"/>
          </a:xfrm>
          <a:prstGeom prst="rect">
            <a:avLst/>
          </a:prstGeom>
        </p:spPr>
      </p:pic>
      <p:sp>
        <p:nvSpPr>
          <p:cNvPr id="53" name="Title 15"/>
          <p:cNvSpPr>
            <a:spLocks noGrp="1"/>
          </p:cNvSpPr>
          <p:nvPr>
            <p:ph type="title" hasCustomPrompt="1"/>
          </p:nvPr>
        </p:nvSpPr>
        <p:spPr>
          <a:xfrm>
            <a:off x="4601260" y="3770111"/>
            <a:ext cx="4319046" cy="161272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800" b="1" spc="-150" baseline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s-MX" dirty="0"/>
          </a:p>
        </p:txBody>
      </p:sp>
      <p:sp>
        <p:nvSpPr>
          <p:cNvPr id="54" name="Text Placeholder 17"/>
          <p:cNvSpPr>
            <a:spLocks noGrp="1"/>
          </p:cNvSpPr>
          <p:nvPr>
            <p:ph type="body" sz="quarter" idx="11"/>
          </p:nvPr>
        </p:nvSpPr>
        <p:spPr>
          <a:xfrm>
            <a:off x="4595169" y="5426295"/>
            <a:ext cx="4325137" cy="594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lnSpc>
                <a:spcPct val="80000"/>
              </a:lnSpc>
              <a:buNone/>
              <a:defRPr sz="18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1pPr>
            <a:lvl2pPr marL="0" indent="0" algn="r">
              <a:buNone/>
              <a:defRPr sz="1500"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defRPr>
            </a:lvl2pPr>
            <a:lvl3pPr marL="914400" indent="0">
              <a:buNone/>
              <a:defRPr sz="18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0" name="Rectangle 49"/>
          <p:cNvSpPr/>
          <p:nvPr userDrawn="1"/>
        </p:nvSpPr>
        <p:spPr>
          <a:xfrm>
            <a:off x="8920306" y="4869160"/>
            <a:ext cx="226495" cy="4659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10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540569" cy="13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17036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gradFill flip="none" rotWithShape="1">
          <a:gsLst>
            <a:gs pos="24000">
              <a:schemeClr val="bg1"/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2599" y="-5804"/>
            <a:ext cx="4731401" cy="68638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37" name="Title 19"/>
          <p:cNvSpPr>
            <a:spLocks noGrp="1"/>
          </p:cNvSpPr>
          <p:nvPr>
            <p:ph type="title"/>
          </p:nvPr>
        </p:nvSpPr>
        <p:spPr>
          <a:xfrm>
            <a:off x="4932040" y="2528342"/>
            <a:ext cx="3517438" cy="226881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ts val="3800"/>
              </a:lnSpc>
              <a:defRPr sz="40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s-MX" dirty="0"/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983600" y="3372380"/>
            <a:ext cx="6857999" cy="1132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4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113" y="2564904"/>
            <a:ext cx="2081289" cy="108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35496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s-MX" sz="75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750" dirty="0">
              <a:cs typeface="Arial" charset="0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849245" y="6482903"/>
            <a:ext cx="294755" cy="2339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2544189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 Slide">
    <p:bg>
      <p:bgPr>
        <a:gradFill>
          <a:gsLst>
            <a:gs pos="24000">
              <a:schemeClr val="bg1">
                <a:lumMod val="0"/>
                <a:lumOff val="1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4605" y="-5804"/>
            <a:ext cx="4427203" cy="68638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983600" y="3372379"/>
            <a:ext cx="6857999" cy="11324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218686" y="2365137"/>
            <a:ext cx="3921266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Q&amp;A</a:t>
            </a:r>
            <a:endParaRPr lang="en-US" sz="138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7" name="Picture 6" descr="C:\Users\joel.solis\Desktop\2013 Templates\Softtek+tagline-2012_cs2.em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32656"/>
            <a:ext cx="2540569" cy="1318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3760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rd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190526" y="2743350"/>
            <a:ext cx="3985470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ight Triangle 7"/>
          <p:cNvSpPr>
            <a:spLocks noChangeArrowheads="1"/>
          </p:cNvSpPr>
          <p:nvPr/>
        </p:nvSpPr>
        <p:spPr bwMode="auto">
          <a:xfrm rot="16200000" flipH="1" flipV="1">
            <a:off x="1081385" y="2526786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799990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ight Triangle 8"/>
          <p:cNvSpPr>
            <a:spLocks noChangeArrowheads="1"/>
          </p:cNvSpPr>
          <p:nvPr/>
        </p:nvSpPr>
        <p:spPr bwMode="auto">
          <a:xfrm rot="5400000" flipH="1" flipV="1">
            <a:off x="4733132" y="4311352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4040029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75656" y="3075247"/>
            <a:ext cx="3411538" cy="546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1475656" y="3655567"/>
            <a:ext cx="3411538" cy="997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92"/>
          <a:stretch/>
        </p:blipFill>
        <p:spPr>
          <a:xfrm>
            <a:off x="6241143" y="6017"/>
            <a:ext cx="2605247" cy="2380493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1441747" y="3112771"/>
            <a:ext cx="56623" cy="2329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3" name="Rectangle 12"/>
          <p:cNvSpPr>
            <a:spLocks noChangeArrowheads="1"/>
          </p:cNvSpPr>
          <p:nvPr userDrawn="1"/>
        </p:nvSpPr>
        <p:spPr bwMode="auto">
          <a:xfrm>
            <a:off x="179512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s-MX" sz="800" dirty="0" smtClean="0">
                <a:solidFill>
                  <a:schemeClr val="bg1"/>
                </a:solidFill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solidFill>
                <a:schemeClr val="bg1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129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siness Card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1459" y="2632109"/>
            <a:ext cx="3985470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ight Triangle 7"/>
          <p:cNvSpPr>
            <a:spLocks noChangeArrowheads="1"/>
          </p:cNvSpPr>
          <p:nvPr/>
        </p:nvSpPr>
        <p:spPr bwMode="auto">
          <a:xfrm rot="16200000" flipH="1" flipV="1">
            <a:off x="302318" y="2415545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799990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ight Triangle 8"/>
          <p:cNvSpPr>
            <a:spLocks noChangeArrowheads="1"/>
          </p:cNvSpPr>
          <p:nvPr/>
        </p:nvSpPr>
        <p:spPr bwMode="auto">
          <a:xfrm rot="5400000" flipH="1" flipV="1">
            <a:off x="3954065" y="4200111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4040029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96589" y="2964006"/>
            <a:ext cx="3411538" cy="546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96589" y="3544326"/>
            <a:ext cx="3411538" cy="997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92"/>
          <a:stretch/>
        </p:blipFill>
        <p:spPr>
          <a:xfrm>
            <a:off x="6241143" y="6017"/>
            <a:ext cx="2605247" cy="2380493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662680" y="3001530"/>
            <a:ext cx="56623" cy="2329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656534" y="2632109"/>
            <a:ext cx="3985470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ight Triangle 13"/>
          <p:cNvSpPr>
            <a:spLocks noChangeArrowheads="1"/>
          </p:cNvSpPr>
          <p:nvPr userDrawn="1"/>
        </p:nvSpPr>
        <p:spPr bwMode="auto">
          <a:xfrm rot="16200000" flipH="1" flipV="1">
            <a:off x="4547393" y="2415545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799990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Right Triangle 14"/>
          <p:cNvSpPr>
            <a:spLocks noChangeArrowheads="1"/>
          </p:cNvSpPr>
          <p:nvPr userDrawn="1"/>
        </p:nvSpPr>
        <p:spPr bwMode="auto">
          <a:xfrm rot="5400000" flipH="1" flipV="1">
            <a:off x="8199140" y="4200111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4040029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941664" y="2964006"/>
            <a:ext cx="3411538" cy="546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941664" y="3544326"/>
            <a:ext cx="3411538" cy="997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4907755" y="3001530"/>
            <a:ext cx="56623" cy="2329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2" name="Rectangle 21"/>
          <p:cNvSpPr>
            <a:spLocks noChangeArrowheads="1"/>
          </p:cNvSpPr>
          <p:nvPr userDrawn="1"/>
        </p:nvSpPr>
        <p:spPr bwMode="auto">
          <a:xfrm>
            <a:off x="179512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s-MX" sz="800" dirty="0" smtClean="0">
                <a:solidFill>
                  <a:schemeClr val="bg1"/>
                </a:solidFill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solidFill>
                <a:schemeClr val="bg1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772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siness Card_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411459" y="3343124"/>
            <a:ext cx="3985470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ight Triangle 7"/>
          <p:cNvSpPr>
            <a:spLocks noChangeArrowheads="1"/>
          </p:cNvSpPr>
          <p:nvPr/>
        </p:nvSpPr>
        <p:spPr bwMode="auto">
          <a:xfrm rot="16200000" flipH="1" flipV="1">
            <a:off x="302318" y="3126560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799990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9" name="Right Triangle 8"/>
          <p:cNvSpPr>
            <a:spLocks noChangeArrowheads="1"/>
          </p:cNvSpPr>
          <p:nvPr/>
        </p:nvSpPr>
        <p:spPr bwMode="auto">
          <a:xfrm rot="5400000" flipH="1" flipV="1">
            <a:off x="3954065" y="4911126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4040029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696589" y="3675021"/>
            <a:ext cx="3411538" cy="546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96589" y="4255341"/>
            <a:ext cx="3411538" cy="997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92"/>
          <a:stretch/>
        </p:blipFill>
        <p:spPr>
          <a:xfrm>
            <a:off x="6241143" y="6017"/>
            <a:ext cx="2605247" cy="2380493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662680" y="3712545"/>
            <a:ext cx="56623" cy="2329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656534" y="3343124"/>
            <a:ext cx="3985470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Right Triangle 13"/>
          <p:cNvSpPr>
            <a:spLocks noChangeArrowheads="1"/>
          </p:cNvSpPr>
          <p:nvPr userDrawn="1"/>
        </p:nvSpPr>
        <p:spPr bwMode="auto">
          <a:xfrm rot="16200000" flipH="1" flipV="1">
            <a:off x="4547393" y="3126560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799990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5" name="Right Triangle 14"/>
          <p:cNvSpPr>
            <a:spLocks noChangeArrowheads="1"/>
          </p:cNvSpPr>
          <p:nvPr userDrawn="1"/>
        </p:nvSpPr>
        <p:spPr bwMode="auto">
          <a:xfrm rot="5400000" flipH="1" flipV="1">
            <a:off x="8199140" y="4911126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4040029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941664" y="3675021"/>
            <a:ext cx="3411538" cy="546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941664" y="4255341"/>
            <a:ext cx="3411538" cy="997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Rectangle 19"/>
          <p:cNvSpPr/>
          <p:nvPr userDrawn="1"/>
        </p:nvSpPr>
        <p:spPr>
          <a:xfrm>
            <a:off x="4907755" y="3712545"/>
            <a:ext cx="56623" cy="2329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411459" y="692696"/>
            <a:ext cx="3985470" cy="21602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2" name="Right Triangle 21"/>
          <p:cNvSpPr>
            <a:spLocks noChangeArrowheads="1"/>
          </p:cNvSpPr>
          <p:nvPr userDrawn="1"/>
        </p:nvSpPr>
        <p:spPr bwMode="auto">
          <a:xfrm rot="16200000" flipH="1" flipV="1">
            <a:off x="302318" y="476132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799990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3" name="Right Triangle 22"/>
          <p:cNvSpPr>
            <a:spLocks noChangeArrowheads="1"/>
          </p:cNvSpPr>
          <p:nvPr userDrawn="1"/>
        </p:nvSpPr>
        <p:spPr bwMode="auto">
          <a:xfrm rot="5400000" flipH="1" flipV="1">
            <a:off x="3954065" y="2260698"/>
            <a:ext cx="720725" cy="684212"/>
          </a:xfrm>
          <a:prstGeom prst="rtTriangle">
            <a:avLst/>
          </a:prstGeom>
          <a:solidFill>
            <a:schemeClr val="tx2"/>
          </a:solidFill>
          <a:ln w="25400">
            <a:noFill/>
            <a:miter lim="800000"/>
            <a:headEnd/>
            <a:tailEnd/>
          </a:ln>
          <a:effectLst>
            <a:outerShdw blurRad="38100" dist="63500" dir="14040029" algn="tl" rotWithShape="0">
              <a:srgbClr val="808080">
                <a:alpha val="25000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24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96589" y="1024593"/>
            <a:ext cx="3411538" cy="5461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20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696589" y="1604913"/>
            <a:ext cx="3411538" cy="99789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662680" y="1062117"/>
            <a:ext cx="56623" cy="23296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7" name="Rectangle 26"/>
          <p:cNvSpPr>
            <a:spLocks noChangeArrowheads="1"/>
          </p:cNvSpPr>
          <p:nvPr userDrawn="1"/>
        </p:nvSpPr>
        <p:spPr bwMode="auto">
          <a:xfrm>
            <a:off x="179512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s-MX" sz="800" dirty="0" smtClean="0">
                <a:solidFill>
                  <a:schemeClr val="bg1"/>
                </a:solidFill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solidFill>
                <a:schemeClr val="bg1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7030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mb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412599" y="-5804"/>
            <a:ext cx="4731401" cy="68638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 userDrawn="1"/>
        </p:nvSpPr>
        <p:spPr>
          <a:xfrm rot="5400000">
            <a:off x="983600" y="3372380"/>
            <a:ext cx="6857999" cy="11324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bg1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92"/>
          <a:stretch/>
        </p:blipFill>
        <p:spPr>
          <a:xfrm>
            <a:off x="6241143" y="6017"/>
            <a:ext cx="2605247" cy="2380493"/>
          </a:xfrm>
          <a:prstGeom prst="rect">
            <a:avLst/>
          </a:prstGeom>
        </p:spPr>
      </p:pic>
      <p:sp>
        <p:nvSpPr>
          <p:cNvPr id="12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95536" y="1052736"/>
            <a:ext cx="3744416" cy="330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18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401134" y="1383301"/>
            <a:ext cx="3738818" cy="824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367783" y="1066440"/>
            <a:ext cx="55507" cy="23066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4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395536" y="2418478"/>
            <a:ext cx="3744416" cy="330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18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01134" y="2749043"/>
            <a:ext cx="3738818" cy="824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367783" y="2432182"/>
            <a:ext cx="55507" cy="23066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7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395536" y="3749000"/>
            <a:ext cx="3744416" cy="330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18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01134" y="4079565"/>
            <a:ext cx="3738818" cy="824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Rectangle 28"/>
          <p:cNvSpPr/>
          <p:nvPr userDrawn="1"/>
        </p:nvSpPr>
        <p:spPr>
          <a:xfrm>
            <a:off x="367783" y="3762704"/>
            <a:ext cx="55507" cy="23066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30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395536" y="5117152"/>
            <a:ext cx="3744416" cy="3305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buNone/>
              <a:defRPr sz="1800" b="1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Text Placeholder 10"/>
          <p:cNvSpPr>
            <a:spLocks noGrp="1"/>
          </p:cNvSpPr>
          <p:nvPr>
            <p:ph type="body" sz="quarter" idx="17"/>
          </p:nvPr>
        </p:nvSpPr>
        <p:spPr>
          <a:xfrm>
            <a:off x="401134" y="5447717"/>
            <a:ext cx="3738818" cy="8240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 b="0" baseline="0">
                <a:latin typeface="Arial" pitchFamily="34" charset="0"/>
                <a:cs typeface="Arial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2" name="Rectangle 31"/>
          <p:cNvSpPr/>
          <p:nvPr userDrawn="1"/>
        </p:nvSpPr>
        <p:spPr>
          <a:xfrm>
            <a:off x="367783" y="5130856"/>
            <a:ext cx="55507" cy="23066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9" name="Rectangle 18"/>
          <p:cNvSpPr>
            <a:spLocks noChangeArrowheads="1"/>
          </p:cNvSpPr>
          <p:nvPr userDrawn="1"/>
        </p:nvSpPr>
        <p:spPr bwMode="auto">
          <a:xfrm>
            <a:off x="3996754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r>
              <a:rPr lang="es-MX" sz="800" dirty="0" smtClean="0">
                <a:solidFill>
                  <a:schemeClr val="bg1"/>
                </a:solidFill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solidFill>
                <a:schemeClr val="bg1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55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43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9072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2227" y="1339789"/>
            <a:ext cx="8208912" cy="4965019"/>
          </a:xfrm>
        </p:spPr>
        <p:txBody>
          <a:bodyPr/>
          <a:lstStyle>
            <a:lvl4pPr>
              <a:buFont typeface="Arial Rounded MT Bold" pitchFamily="34" charset="0"/>
              <a:buChar char="›"/>
              <a:defRPr/>
            </a:lvl4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2"/>
            <a:endParaRPr lang="en-US" noProof="0" smtClean="0"/>
          </a:p>
        </p:txBody>
      </p:sp>
      <p:sp>
        <p:nvSpPr>
          <p:cNvPr id="5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43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en-US" noProof="0" dirty="0" smtClean="0"/>
              <a:t>Click to edit Master title style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850744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l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9993"/>
            <a:ext cx="4038600" cy="496481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9993"/>
            <a:ext cx="4038600" cy="496481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6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43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86714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 Mess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119313"/>
            <a:ext cx="9144000" cy="29527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MX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3550" y="2348880"/>
            <a:ext cx="8216426" cy="2511188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buNone/>
              <a:defRPr sz="2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algn="ctr">
              <a:buNone/>
              <a:defRPr sz="2000">
                <a:solidFill>
                  <a:schemeClr val="bg2"/>
                </a:solidFill>
              </a:defRPr>
            </a:lvl2pPr>
            <a:lvl3pPr algn="ctr">
              <a:buNone/>
              <a:defRPr sz="2000">
                <a:solidFill>
                  <a:schemeClr val="bg2"/>
                </a:solidFill>
              </a:defRPr>
            </a:lvl3pPr>
            <a:lvl4pPr algn="ctr">
              <a:buNone/>
              <a:defRPr sz="2000">
                <a:solidFill>
                  <a:schemeClr val="bg2"/>
                </a:solidFill>
              </a:defRPr>
            </a:lvl4pPr>
            <a:lvl5pPr algn="ctr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43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4937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ck Mess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119313"/>
            <a:ext cx="9144000" cy="2952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s-MX" dirty="0"/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63550" y="2348880"/>
            <a:ext cx="8216426" cy="2511188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buNone/>
              <a:defRPr sz="2800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  <a:lvl2pPr algn="ctr">
              <a:buNone/>
              <a:defRPr sz="2000">
                <a:solidFill>
                  <a:schemeClr val="bg2"/>
                </a:solidFill>
              </a:defRPr>
            </a:lvl2pPr>
            <a:lvl3pPr algn="ctr">
              <a:buNone/>
              <a:defRPr sz="2000">
                <a:solidFill>
                  <a:schemeClr val="bg2"/>
                </a:solidFill>
              </a:defRPr>
            </a:lvl3pPr>
            <a:lvl4pPr algn="ctr">
              <a:buNone/>
              <a:defRPr sz="2000">
                <a:solidFill>
                  <a:schemeClr val="bg2"/>
                </a:solidFill>
              </a:defRPr>
            </a:lvl4pPr>
            <a:lvl5pPr algn="ctr">
              <a:buNone/>
              <a:defRPr sz="2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43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78039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/>
        </p:nvCxnSpPr>
        <p:spPr bwMode="auto">
          <a:xfrm rot="16200000" flipV="1">
            <a:off x="1394619" y="3664744"/>
            <a:ext cx="205263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rot="16200000" flipV="1">
            <a:off x="3537744" y="3664744"/>
            <a:ext cx="205263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auto">
          <a:xfrm rot="16200000" flipV="1">
            <a:off x="5679281" y="3664744"/>
            <a:ext cx="2052638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95001" y="2636912"/>
            <a:ext cx="1911469" cy="2055858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542250" y="2636912"/>
            <a:ext cx="1911469" cy="2055858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4689499" y="2636912"/>
            <a:ext cx="1911469" cy="2055858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836747" y="2636912"/>
            <a:ext cx="1911469" cy="2055858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2470150" y="1341438"/>
            <a:ext cx="4230688" cy="1036637"/>
          </a:xfrm>
        </p:spPr>
        <p:txBody>
          <a:bodyPr rtlCol="0">
            <a:normAutofit/>
          </a:bodyPr>
          <a:lstStyle/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395001" y="5213445"/>
            <a:ext cx="8366862" cy="1159469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430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39737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63550" y="2237711"/>
            <a:ext cx="8229600" cy="1228725"/>
          </a:xfrm>
        </p:spPr>
        <p:txBody>
          <a:bodyPr anchor="ctr"/>
          <a:lstStyle>
            <a:lvl1pPr marL="0" indent="0" algn="ctr">
              <a:lnSpc>
                <a:spcPct val="80000"/>
              </a:lnSpc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2005273" y="3520602"/>
            <a:ext cx="5146154" cy="628318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1200">
                <a:solidFill>
                  <a:schemeClr val="tx2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39136" cy="849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70542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8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146" r:id="rId1"/>
    <p:sldLayoutId id="2147485147" r:id="rId2"/>
    <p:sldLayoutId id="2147485148" r:id="rId3"/>
    <p:sldLayoutId id="2147485149" r:id="rId4"/>
    <p:sldLayoutId id="2147485150" r:id="rId5"/>
    <p:sldLayoutId id="2147485132" r:id="rId6"/>
    <p:sldLayoutId id="2147485154" r:id="rId7"/>
    <p:sldLayoutId id="2147485134" r:id="rId8"/>
    <p:sldLayoutId id="2147485155" r:id="rId9"/>
    <p:sldLayoutId id="2147485156" r:id="rId10"/>
    <p:sldLayoutId id="214748515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Rockwell" pitchFamily="18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Rockwell" pitchFamily="18" charset="0"/>
        </a:defRPr>
      </a:lvl9pPr>
    </p:titleStyle>
    <p:bodyStyle>
      <a:lvl1pPr marL="174625" indent="-174625" algn="l" rtl="0" eaLnBrk="1" fontAlgn="base" hangingPunct="1">
        <a:spcBef>
          <a:spcPct val="20000"/>
        </a:spcBef>
        <a:spcAft>
          <a:spcPct val="0"/>
        </a:spcAft>
        <a:buFont typeface="Arial Rounded MT Bold" pitchFamily="34" charset="0"/>
        <a:buChar char="›"/>
        <a:tabLst>
          <a:tab pos="174625" algn="l"/>
        </a:tabLst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496888" indent="-146050" algn="l" rtl="0" eaLnBrk="1" fontAlgn="base" hangingPunct="1">
        <a:spcBef>
          <a:spcPct val="20000"/>
        </a:spcBef>
        <a:spcAft>
          <a:spcPct val="0"/>
        </a:spcAft>
        <a:buFont typeface="Arial Rounded MT Bold" pitchFamily="34" charset="0"/>
        <a:buChar char="›"/>
        <a:tabLst>
          <a:tab pos="515938" algn="l"/>
          <a:tab pos="719138" algn="l"/>
        </a:tabLst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787400" indent="-146050" algn="l" rtl="0" eaLnBrk="1" fontAlgn="base" hangingPunct="1">
        <a:spcBef>
          <a:spcPct val="20000"/>
        </a:spcBef>
        <a:spcAft>
          <a:spcPct val="0"/>
        </a:spcAft>
        <a:buFont typeface="Arial Rounded MT Bold" pitchFamily="34" charset="0"/>
        <a:buChar char="›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3550" y="1338263"/>
            <a:ext cx="8207375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2"/>
            <a:endParaRPr lang="en-US" dirty="0" smtClean="0"/>
          </a:p>
        </p:txBody>
      </p:sp>
      <p:sp>
        <p:nvSpPr>
          <p:cNvPr id="1028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192088"/>
            <a:ext cx="7194550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  <a:endParaRPr lang="es-MX" dirty="0" smtClean="0"/>
          </a:p>
        </p:txBody>
      </p:sp>
      <p:pic>
        <p:nvPicPr>
          <p:cNvPr id="2050" name="Picture 2" descr="C:\Users\joel.solis\Desktop\2013 Templates\softtek.emf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404664"/>
            <a:ext cx="1036885" cy="529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79512" y="6524625"/>
            <a:ext cx="5111750" cy="14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s-MX" sz="800" dirty="0" smtClean="0">
                <a:cs typeface="Arial" charset="0"/>
              </a:rPr>
              <a:t>Todos los Derechos Reservados © Valores Corporativos Softtek S.A. de C.V. 2013. Confidencial.  </a:t>
            </a:r>
            <a:endParaRPr lang="es-MX" sz="800" dirty="0">
              <a:cs typeface="Arial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49245" y="6482903"/>
            <a:ext cx="294755" cy="23398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2"/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744594" y="6453336"/>
            <a:ext cx="504056" cy="2931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‹#›</a:t>
            </a:fld>
            <a:endParaRPr lang="es-MX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36" r:id="rId2"/>
    <p:sldLayoutId id="2147485124" r:id="rId3"/>
    <p:sldLayoutId id="2147485137" r:id="rId4"/>
    <p:sldLayoutId id="2147485138" r:id="rId5"/>
    <p:sldLayoutId id="2147485140" r:id="rId6"/>
    <p:sldLayoutId id="214748512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3000" b="1" kern="1200">
          <a:solidFill>
            <a:schemeClr val="accent2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ts val="3000"/>
        </a:lnSpc>
        <a:spcBef>
          <a:spcPct val="0"/>
        </a:spcBef>
        <a:spcAft>
          <a:spcPct val="0"/>
        </a:spcAft>
        <a:defRPr sz="3000" b="1">
          <a:solidFill>
            <a:schemeClr val="accent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accent1"/>
          </a:solidFill>
          <a:latin typeface="Rockwell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accent1"/>
          </a:solidFill>
          <a:latin typeface="Rockwell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accent1"/>
          </a:solidFill>
          <a:latin typeface="Rockwell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accent1"/>
          </a:solidFill>
          <a:latin typeface="Rockwell" pitchFamily="18" charset="0"/>
        </a:defRPr>
      </a:lvl9pPr>
    </p:titleStyle>
    <p:bodyStyle>
      <a:lvl1pPr marL="174625" indent="-174625" algn="l" rtl="0" eaLnBrk="0" fontAlgn="base" hangingPunct="0">
        <a:spcBef>
          <a:spcPct val="20000"/>
        </a:spcBef>
        <a:spcAft>
          <a:spcPct val="0"/>
        </a:spcAft>
        <a:buFont typeface="Arial Rounded MT Bold" pitchFamily="34" charset="0"/>
        <a:buChar char="›"/>
        <a:defRPr kern="1200">
          <a:solidFill>
            <a:srgbClr val="5F5F5F"/>
          </a:solidFill>
          <a:latin typeface="Arial" pitchFamily="34" charset="0"/>
          <a:ea typeface="+mn-ea"/>
          <a:cs typeface="Arial" pitchFamily="34" charset="0"/>
        </a:defRPr>
      </a:lvl1pPr>
      <a:lvl2pPr marL="449263" indent="-95250" algn="l" rtl="0" eaLnBrk="0" fontAlgn="base" hangingPunct="0">
        <a:spcBef>
          <a:spcPct val="20000"/>
        </a:spcBef>
        <a:spcAft>
          <a:spcPct val="0"/>
        </a:spcAft>
        <a:buFont typeface="Arial Rounded MT Bold" pitchFamily="34" charset="0"/>
        <a:buChar char="›"/>
        <a:defRPr sz="1600" kern="1200">
          <a:solidFill>
            <a:srgbClr val="5F5F5F"/>
          </a:solidFill>
          <a:latin typeface="Arial" pitchFamily="34" charset="0"/>
          <a:ea typeface="+mn-ea"/>
          <a:cs typeface="Arial" pitchFamily="34" charset="0"/>
        </a:defRPr>
      </a:lvl2pPr>
      <a:lvl3pPr marL="715963" indent="-85725" algn="l" rtl="0" eaLnBrk="0" fontAlgn="base" hangingPunct="0">
        <a:spcBef>
          <a:spcPct val="20000"/>
        </a:spcBef>
        <a:spcAft>
          <a:spcPct val="0"/>
        </a:spcAft>
        <a:buFont typeface="Arial Rounded MT Bold" pitchFamily="34" charset="0"/>
        <a:buChar char="›"/>
        <a:defRPr sz="1400" kern="1200">
          <a:solidFill>
            <a:srgbClr val="5F5F5F"/>
          </a:solidFill>
          <a:latin typeface="Arial" pitchFamily="34" charset="0"/>
          <a:ea typeface="+mn-ea"/>
          <a:cs typeface="Arial" pitchFamily="34" charset="0"/>
        </a:defRPr>
      </a:lvl3pPr>
      <a:lvl4pPr marL="923925" indent="-87313" algn="l" rtl="0" eaLnBrk="0" fontAlgn="base" hangingPunct="0">
        <a:spcBef>
          <a:spcPct val="20000"/>
        </a:spcBef>
        <a:spcAft>
          <a:spcPct val="0"/>
        </a:spcAft>
        <a:buFont typeface="Arial Rounded MT Bold" pitchFamily="34" charset="0"/>
        <a:buChar char="›"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079500" indent="-77788" algn="l" rtl="0" eaLnBrk="0" fontAlgn="base" hangingPunct="0">
        <a:spcBef>
          <a:spcPct val="20000"/>
        </a:spcBef>
        <a:spcAft>
          <a:spcPct val="0"/>
        </a:spcAft>
        <a:buFont typeface="Arial Rounded MT Bold" pitchFamily="34" charset="0"/>
        <a:buChar char="›"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Nissan – Impresiones de </a:t>
            </a:r>
            <a:r>
              <a:rPr lang="es-MX" dirty="0" err="1" smtClean="0"/>
              <a:t>Calcomanias</a:t>
            </a:r>
            <a:endParaRPr lang="es-MX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 smtClean="0"/>
              <a:t>AMS</a:t>
            </a:r>
            <a:endParaRPr lang="pt-BR" dirty="0"/>
          </a:p>
          <a:p>
            <a:r>
              <a:rPr lang="pt-BR" dirty="0" smtClean="0"/>
              <a:t>Francisco Medina</a:t>
            </a:r>
          </a:p>
          <a:p>
            <a:r>
              <a:rPr lang="pt-BR" dirty="0" smtClean="0"/>
              <a:t>Gerardo Zuñiga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0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Proyecto </a:t>
            </a:r>
            <a:r>
              <a:rPr lang="es-MX" dirty="0" err="1"/>
              <a:t>CertLbl</a:t>
            </a:r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2</a:t>
            </a:fld>
            <a:endParaRPr lang="es-MX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433762"/>
              </p:ext>
            </p:extLst>
          </p:nvPr>
        </p:nvGraphicFramePr>
        <p:xfrm>
          <a:off x="457200" y="1143000"/>
          <a:ext cx="3569082" cy="43548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38921"/>
                <a:gridCol w="1030161"/>
              </a:tblGrid>
              <a:tr h="323850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System </a:t>
                      </a:r>
                      <a:r>
                        <a:rPr lang="en-US" sz="1800" b="1" u="none" strike="noStrike" dirty="0" err="1">
                          <a:effectLst/>
                        </a:rPr>
                        <a:t>Sumary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Data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</a:rPr>
                        <a:t>Quantity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Projects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Total files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34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Source files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Source lines (LINES)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5206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System size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Small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VB version(s)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VB6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Source size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 smtClean="0">
                          <a:effectLst/>
                        </a:rPr>
                        <a:t>289 kb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>
                          <a:effectLst/>
                        </a:rPr>
                        <a:t>Binary property (frx) files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 smtClean="0">
                          <a:effectLst/>
                        </a:rPr>
                        <a:t>92 kb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Work effort estimate Man-months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2385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</a:rPr>
                        <a:t>Work effort estimate Man-months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u="none" strike="noStrike" dirty="0">
                          <a:effectLst/>
                        </a:rPr>
                        <a:t>100 lines/day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48200" y="1219200"/>
            <a:ext cx="358140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smtClean="0"/>
              <a:t>Nivel Funcional existen 5 Módulos principales: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Impresión Manual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Modelos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Enviar Logo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 smtClean="0"/>
              <a:t>Inicialización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867400" y="3581400"/>
            <a:ext cx="1371600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NX-Auto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867400" y="4660900"/>
            <a:ext cx="1371600" cy="533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err="1" smtClean="0"/>
              <a:t>CertLbl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867400" y="5791200"/>
            <a:ext cx="1371600" cy="5334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Impresora</a:t>
            </a:r>
            <a:endParaRPr lang="en-US" dirty="0"/>
          </a:p>
        </p:txBody>
      </p:sp>
      <p:cxnSp>
        <p:nvCxnSpPr>
          <p:cNvPr id="8" name="Straight Arrow Connector 7"/>
          <p:cNvCxnSpPr>
            <a:stCxn id="6" idx="2"/>
            <a:endCxn id="15" idx="0"/>
          </p:cNvCxnSpPr>
          <p:nvPr/>
        </p:nvCxnSpPr>
        <p:spPr>
          <a:xfrm>
            <a:off x="6553200" y="4114800"/>
            <a:ext cx="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553200" y="5212511"/>
            <a:ext cx="0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522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Historia de Modificaciones del Proyecto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3</a:t>
            </a:fld>
            <a:endParaRPr lang="es-MX" dirty="0"/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3657313"/>
              </p:ext>
            </p:extLst>
          </p:nvPr>
        </p:nvGraphicFramePr>
        <p:xfrm>
          <a:off x="228600" y="685800"/>
          <a:ext cx="8686800" cy="3509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4164393"/>
              </p:ext>
            </p:extLst>
          </p:nvPr>
        </p:nvGraphicFramePr>
        <p:xfrm>
          <a:off x="3733800" y="4114800"/>
          <a:ext cx="5334000" cy="2595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4572000"/>
            <a:ext cx="30480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smtClean="0"/>
              <a:t>En las siguientes graficas podemos revisar la tendencia de modificaciones al proyecto con el pasar del tiempo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17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Código Muerto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4</a:t>
            </a:fld>
            <a:endParaRPr lang="es-MX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211307"/>
              </p:ext>
            </p:extLst>
          </p:nvPr>
        </p:nvGraphicFramePr>
        <p:xfrm>
          <a:off x="6172200" y="1066800"/>
          <a:ext cx="2755900" cy="3021330"/>
        </p:xfrm>
        <a:graphic>
          <a:graphicData uri="http://schemas.openxmlformats.org/drawingml/2006/table">
            <a:tbl>
              <a:tblPr>
                <a:tableStyleId>{91EBBBCC-DAD2-459C-BE2E-F6DE35CF9A28}</a:tableStyleId>
              </a:tblPr>
              <a:tblGrid>
                <a:gridCol w="1193800"/>
                <a:gridCol w="749300"/>
                <a:gridCol w="81280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Row Labels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Sum of Live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Sum of Dead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rgbClr val="92D050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CONSTANTS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TYPES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VARIABLES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PARAMETERS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201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TYPE FIELD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ENUMS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ENUM CONSTANTS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PROCEDURS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94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Grand Total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470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107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7235154"/>
              </p:ext>
            </p:extLst>
          </p:nvPr>
        </p:nvGraphicFramePr>
        <p:xfrm>
          <a:off x="533400" y="3657600"/>
          <a:ext cx="8048625" cy="2666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1371600"/>
            <a:ext cx="4495800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Código </a:t>
            </a:r>
            <a:r>
              <a:rPr lang="es-ES" dirty="0"/>
              <a:t>muerto es una sección en el código fuente de un programa que se ejecuta pero cuyo resultado no se usa nunca en cualquier otro tipo de cálculo.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4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Medidas de la Aplicación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5</a:t>
            </a:fld>
            <a:endParaRPr lang="es-MX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362039"/>
              </p:ext>
            </p:extLst>
          </p:nvPr>
        </p:nvGraphicFramePr>
        <p:xfrm>
          <a:off x="609600" y="1219200"/>
          <a:ext cx="3875505" cy="151066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818499"/>
                <a:gridCol w="926705"/>
                <a:gridCol w="601663"/>
                <a:gridCol w="528638"/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Size metric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Average</a:t>
                      </a:r>
                      <a:endParaRPr lang="en-US" sz="16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Min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MAX</a:t>
                      </a: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Source lines/file (LINES)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578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2543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Code lines/file (LLOC)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215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502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Procedures/file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12.6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24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Kilobytes/file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32.1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5.3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143.8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57800" y="3581400"/>
            <a:ext cx="3352800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smtClean="0"/>
              <a:t>86% de la aplicación son </a:t>
            </a:r>
            <a:r>
              <a:rPr lang="es-MX" dirty="0" err="1" smtClean="0"/>
              <a:t>procedures</a:t>
            </a:r>
            <a:r>
              <a:rPr lang="es-MX" dirty="0" smtClean="0"/>
              <a:t> sin complejidad alta.</a:t>
            </a:r>
          </a:p>
          <a:p>
            <a:endParaRPr lang="es-MX" dirty="0"/>
          </a:p>
          <a:p>
            <a:r>
              <a:rPr lang="es-MX" dirty="0" smtClean="0"/>
              <a:t>2.67 CC de complejidad</a:t>
            </a:r>
            <a:endParaRPr lang="en-US" dirty="0"/>
          </a:p>
        </p:txBody>
      </p:sp>
      <p:sp>
        <p:nvSpPr>
          <p:cNvPr id="7" name="Cloud 6"/>
          <p:cNvSpPr/>
          <p:nvPr/>
        </p:nvSpPr>
        <p:spPr>
          <a:xfrm>
            <a:off x="5257800" y="1066800"/>
            <a:ext cx="3581400" cy="1828800"/>
          </a:xfrm>
          <a:prstGeom prst="clou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Probabilidad </a:t>
            </a:r>
            <a:r>
              <a:rPr lang="es-ES" dirty="0"/>
              <a:t>de introducir un nuevo error al tratar de arreglar un error anterior.</a:t>
            </a:r>
            <a:endParaRPr lang="en-US" dirty="0"/>
          </a:p>
        </p:txBody>
      </p:sp>
      <p:sp>
        <p:nvSpPr>
          <p:cNvPr id="8" name="Right Arrow 7"/>
          <p:cNvSpPr/>
          <p:nvPr/>
        </p:nvSpPr>
        <p:spPr>
          <a:xfrm rot="16200000">
            <a:off x="6858000" y="3124200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laque 8"/>
          <p:cNvSpPr/>
          <p:nvPr/>
        </p:nvSpPr>
        <p:spPr>
          <a:xfrm>
            <a:off x="1676400" y="2971800"/>
            <a:ext cx="1905000" cy="1066800"/>
          </a:xfrm>
          <a:prstGeom prst="plaqu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 smtClean="0"/>
              <a:t>96% de Código no es </a:t>
            </a:r>
            <a:r>
              <a:rPr lang="es-MX" dirty="0" err="1" smtClean="0"/>
              <a:t>rehusable</a:t>
            </a:r>
            <a:r>
              <a:rPr lang="es-MX" dirty="0" smtClean="0"/>
              <a:t>.</a:t>
            </a:r>
            <a:endParaRPr lang="en-US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52473"/>
              </p:ext>
            </p:extLst>
          </p:nvPr>
        </p:nvGraphicFramePr>
        <p:xfrm>
          <a:off x="533400" y="3962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ight Arrow 10"/>
          <p:cNvSpPr/>
          <p:nvPr/>
        </p:nvSpPr>
        <p:spPr>
          <a:xfrm rot="6904108">
            <a:off x="1148986" y="3795625"/>
            <a:ext cx="4572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558" y="1447800"/>
            <a:ext cx="4382083" cy="505030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912914"/>
            <a:ext cx="5105400" cy="2744686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Dependencia entre los archivos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6</a:t>
            </a:fld>
            <a:endParaRPr lang="es-MX" dirty="0"/>
          </a:p>
        </p:txBody>
      </p:sp>
      <p:sp>
        <p:nvSpPr>
          <p:cNvPr id="6" name="Left Brace 5"/>
          <p:cNvSpPr/>
          <p:nvPr/>
        </p:nvSpPr>
        <p:spPr>
          <a:xfrm>
            <a:off x="1295400" y="1198722"/>
            <a:ext cx="457200" cy="251608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2133600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Vistas o </a:t>
            </a:r>
            <a:r>
              <a:rPr lang="es-MX" dirty="0" err="1" smtClean="0"/>
              <a:t>Modulos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4152901" y="2667000"/>
            <a:ext cx="161924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90938" y="3095245"/>
            <a:ext cx="1085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/>
              <a:t>Código </a:t>
            </a:r>
            <a:r>
              <a:rPr lang="es-MX" dirty="0" err="1" smtClean="0"/>
              <a:t>Comun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7550" y="4602897"/>
            <a:ext cx="3635375" cy="120032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smtClean="0"/>
              <a:t>El código no es </a:t>
            </a:r>
            <a:r>
              <a:rPr lang="es-MX" dirty="0" err="1" smtClean="0"/>
              <a:t>rehusable</a:t>
            </a:r>
            <a:r>
              <a:rPr lang="es-MX" dirty="0" smtClean="0"/>
              <a:t> porque esta repetido.  Es decir segmentos de código son duplicados en diferentes </a:t>
            </a:r>
            <a:r>
              <a:rPr lang="es-MX" dirty="0" err="1" smtClean="0"/>
              <a:t>modulos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257800" y="5803226"/>
            <a:ext cx="2362200" cy="646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dirty="0" err="1" smtClean="0"/>
              <a:t>Metodos</a:t>
            </a:r>
            <a:r>
              <a:rPr lang="es-MX" dirty="0" smtClean="0"/>
              <a:t> usados para imprimir</a:t>
            </a:r>
            <a:endParaRPr lang="en-US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6438900" y="4953000"/>
            <a:ext cx="571500" cy="8502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326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s-MX" dirty="0" smtClean="0"/>
              <a:t>NX-AUTO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Es </a:t>
            </a:r>
            <a:r>
              <a:rPr lang="es-MX" dirty="0"/>
              <a:t>la aplicación que provee información de la línea de producción</a:t>
            </a:r>
            <a:r>
              <a:rPr lang="es-MX" dirty="0" smtClean="0"/>
              <a:t>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La información es introducida por puerto serial a la </a:t>
            </a:r>
            <a:r>
              <a:rPr lang="es-MX" dirty="0" err="1" smtClean="0"/>
              <a:t>aplicacíón</a:t>
            </a:r>
            <a:r>
              <a:rPr lang="es-MX" dirty="0" smtClean="0"/>
              <a:t> de impresión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NX-AUTO transfiere la información por Ethernet sobre </a:t>
            </a:r>
            <a:r>
              <a:rPr lang="es-MX" dirty="0" err="1" smtClean="0"/>
              <a:t>tcp</a:t>
            </a:r>
            <a:r>
              <a:rPr lang="es-MX" dirty="0" smtClean="0"/>
              <a:t>/</a:t>
            </a:r>
            <a:r>
              <a:rPr lang="es-MX" dirty="0" err="1" smtClean="0"/>
              <a:t>ip</a:t>
            </a:r>
            <a:r>
              <a:rPr lang="es-MX" dirty="0" smtClean="0"/>
              <a:t>, y con un adaptador a puerto serial se conecta a </a:t>
            </a:r>
            <a:r>
              <a:rPr lang="es-MX" dirty="0" err="1"/>
              <a:t>CertLbl</a:t>
            </a:r>
            <a:endParaRPr lang="es-MX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Revisar la disponibilidad de reemplazar la conexión por </a:t>
            </a:r>
            <a:r>
              <a:rPr lang="es-MX" dirty="0" err="1" smtClean="0"/>
              <a:t>ethernet</a:t>
            </a:r>
            <a:r>
              <a:rPr lang="es-MX" dirty="0" smtClean="0"/>
              <a:t> directamente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smtClean="0"/>
              <a:t>Impresora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2 modelos de impresoras soportados actualmente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err="1" smtClean="0"/>
              <a:t>CertLbl</a:t>
            </a:r>
            <a:r>
              <a:rPr lang="es-MX" dirty="0" smtClean="0"/>
              <a:t> soporta conexión por puerto serial o puerto paralelo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Existe un nuevo modelo de impresora por USB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El SW debe ser capaz de soportar los 3 tipos de puertos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s-MX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s-MX" dirty="0" smtClean="0"/>
              <a:t>Excel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La información debe ser cargada en un archivo </a:t>
            </a:r>
            <a:r>
              <a:rPr lang="es-MX" dirty="0" err="1" smtClean="0"/>
              <a:t>excel</a:t>
            </a:r>
            <a:endParaRPr lang="es-MX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Una vez cargada la información, el programa debe poder operar sin el uso del Excel.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s-MX" dirty="0" smtClean="0"/>
              <a:t>El programa debe persistir el requerimiento de impresión en cola y un registro; por este motivo consume Access como persistencia.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s-MX" dirty="0"/>
          </a:p>
          <a:p>
            <a:pPr marL="354013" lvl="1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Funcionalidades y Requerimientos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995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s-MX" dirty="0" smtClean="0"/>
              <a:t>Migración de Código</a:t>
            </a:r>
          </a:p>
          <a:p>
            <a:pPr lvl="1"/>
            <a:r>
              <a:rPr lang="es-MX" dirty="0" smtClean="0"/>
              <a:t>La versión actual tiene código en mal estado, lo cual imposibilita recuperar funcionalidad.  </a:t>
            </a:r>
          </a:p>
          <a:p>
            <a:pPr lvl="1"/>
            <a:r>
              <a:rPr lang="es-MX" dirty="0" smtClean="0"/>
              <a:t>La lógica del producto es viable recuperarla.</a:t>
            </a:r>
          </a:p>
          <a:p>
            <a:pPr lvl="1"/>
            <a:r>
              <a:rPr lang="es-MX" dirty="0" smtClean="0"/>
              <a:t>Diseñar una aplicación orientada a funcionalidad con código reutilizable y escalable.</a:t>
            </a:r>
          </a:p>
          <a:p>
            <a:pPr lvl="1"/>
            <a:endParaRPr lang="es-MX" dirty="0"/>
          </a:p>
          <a:p>
            <a:r>
              <a:rPr lang="es-MX" dirty="0" smtClean="0"/>
              <a:t>Desarrollo de nuevos </a:t>
            </a:r>
            <a:r>
              <a:rPr lang="es-MX" dirty="0" err="1" smtClean="0"/>
              <a:t>Modulos</a:t>
            </a:r>
            <a:endParaRPr lang="es-MX" dirty="0" smtClean="0"/>
          </a:p>
          <a:p>
            <a:pPr lvl="1"/>
            <a:r>
              <a:rPr lang="es-MX" dirty="0" smtClean="0"/>
              <a:t>El modulo “modelos” requiere una actualización para facilitar su uso</a:t>
            </a:r>
          </a:p>
          <a:p>
            <a:pPr lvl="1"/>
            <a:r>
              <a:rPr lang="es-MX" dirty="0" smtClean="0"/>
              <a:t>Desarrollo del Modulo </a:t>
            </a:r>
            <a:r>
              <a:rPr lang="es-MX" dirty="0" smtClean="0"/>
              <a:t>“construcción </a:t>
            </a:r>
            <a:r>
              <a:rPr lang="es-MX" dirty="0" smtClean="0"/>
              <a:t>personalizada de </a:t>
            </a:r>
            <a:r>
              <a:rPr lang="es-MX" dirty="0" smtClean="0"/>
              <a:t>Calcomanías”</a:t>
            </a:r>
            <a:endParaRPr lang="es-MX" dirty="0" smtClean="0"/>
          </a:p>
          <a:p>
            <a:pPr marL="79375" indent="0">
              <a:buNone/>
            </a:pPr>
            <a:endParaRPr lang="es-MX" dirty="0" smtClean="0"/>
          </a:p>
          <a:p>
            <a:pPr marL="365125" indent="-285750"/>
            <a:r>
              <a:rPr lang="es-MX" dirty="0" smtClean="0"/>
              <a:t>Estimación</a:t>
            </a:r>
            <a:endParaRPr lang="es-MX" dirty="0"/>
          </a:p>
          <a:p>
            <a:pPr marL="639763" lvl="1" indent="-285750"/>
            <a:r>
              <a:rPr lang="es-MX" dirty="0" smtClean="0"/>
              <a:t>108 horas </a:t>
            </a:r>
            <a:r>
              <a:rPr lang="es-MX" dirty="0" smtClean="0"/>
              <a:t>aproximadamente </a:t>
            </a:r>
            <a:r>
              <a:rPr lang="es-MX" dirty="0" smtClean="0"/>
              <a:t>para </a:t>
            </a:r>
            <a:r>
              <a:rPr lang="es-MX" dirty="0" smtClean="0"/>
              <a:t>análisis, </a:t>
            </a:r>
            <a:r>
              <a:rPr lang="es-MX" dirty="0" smtClean="0"/>
              <a:t>desarrollo e implementación.</a:t>
            </a:r>
          </a:p>
          <a:p>
            <a:pPr marL="639763" lvl="1" indent="-285750"/>
            <a:r>
              <a:rPr lang="es-MX" dirty="0" smtClean="0"/>
              <a:t>La estimación se puede ponderar en base a la experiencia en los temas y/o dificultad para conseguir información.</a:t>
            </a:r>
            <a:endParaRPr lang="es-MX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Recomendaciones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AD834FB-D050-4DAD-A587-98ECF1E1D3D9}" type="slidenum">
              <a:rPr lang="es-MX" smtClean="0"/>
              <a:pPr>
                <a:defRPr/>
              </a:pPr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76998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 smtClean="0"/>
              <a:t>Application Management Services</a:t>
            </a:r>
            <a:endParaRPr lang="es-MX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475656" y="3802709"/>
            <a:ext cx="3411538" cy="997891"/>
          </a:xfrm>
        </p:spPr>
        <p:txBody>
          <a:bodyPr/>
          <a:lstStyle/>
          <a:p>
            <a:r>
              <a:rPr lang="es-MX" dirty="0" smtClean="0"/>
              <a:t>AMS Practice Team</a:t>
            </a:r>
          </a:p>
        </p:txBody>
      </p:sp>
    </p:spTree>
    <p:extLst>
      <p:ext uri="{BB962C8B-B14F-4D97-AF65-F5344CB8AC3E}">
        <p14:creationId xmlns:p14="http://schemas.microsoft.com/office/powerpoint/2010/main" val="98980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tek - Banamex - Propuesta_Migracion_V3.0">
  <a:themeElements>
    <a:clrScheme name="Softtek 2013">
      <a:dk1>
        <a:srgbClr val="2B2D2E"/>
      </a:dk1>
      <a:lt1>
        <a:srgbClr val="FFFFFF"/>
      </a:lt1>
      <a:dk2>
        <a:srgbClr val="008CD2"/>
      </a:dk2>
      <a:lt2>
        <a:srgbClr val="FFFFFF"/>
      </a:lt2>
      <a:accent1>
        <a:srgbClr val="FF6600"/>
      </a:accent1>
      <a:accent2>
        <a:srgbClr val="004569"/>
      </a:accent2>
      <a:accent3>
        <a:srgbClr val="00CC66"/>
      </a:accent3>
      <a:accent4>
        <a:srgbClr val="990000"/>
      </a:accent4>
      <a:accent5>
        <a:srgbClr val="542378"/>
      </a:accent5>
      <a:accent6>
        <a:srgbClr val="006633"/>
      </a:accent6>
      <a:hlink>
        <a:srgbClr val="00B0F0"/>
      </a:hlink>
      <a:folHlink>
        <a:srgbClr val="575A5D"/>
      </a:folHlink>
    </a:clrScheme>
    <a:fontScheme name="Softte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riginal_Logo/ Upper layout">
  <a:themeElements>
    <a:clrScheme name="Softtek 2013">
      <a:dk1>
        <a:srgbClr val="2B2D2E"/>
      </a:dk1>
      <a:lt1>
        <a:srgbClr val="FFFFFF"/>
      </a:lt1>
      <a:dk2>
        <a:srgbClr val="008CD2"/>
      </a:dk2>
      <a:lt2>
        <a:srgbClr val="FFFFFF"/>
      </a:lt2>
      <a:accent1>
        <a:srgbClr val="FF6600"/>
      </a:accent1>
      <a:accent2>
        <a:srgbClr val="004569"/>
      </a:accent2>
      <a:accent3>
        <a:srgbClr val="00CC66"/>
      </a:accent3>
      <a:accent4>
        <a:srgbClr val="990000"/>
      </a:accent4>
      <a:accent5>
        <a:srgbClr val="542378"/>
      </a:accent5>
      <a:accent6>
        <a:srgbClr val="006633"/>
      </a:accent6>
      <a:hlink>
        <a:srgbClr val="00B0F0"/>
      </a:hlink>
      <a:folHlink>
        <a:srgbClr val="575A5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_x0020_Classification1 xmlns="90e5e253-50b2-47e0-ab40-088f51eedbac">Confidential</Data_x0020_Classification1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73FF7AA600A74DA303202E068F3B98" ma:contentTypeVersion="0" ma:contentTypeDescription="Create a new document." ma:contentTypeScope="" ma:versionID="15e34d513bc1c5922fdc1b75015e707c">
  <xsd:schema xmlns:xsd="http://www.w3.org/2001/XMLSchema" xmlns:xs="http://www.w3.org/2001/XMLSchema" xmlns:p="http://schemas.microsoft.com/office/2006/metadata/properties" xmlns:ns2="90e5e253-50b2-47e0-ab40-088f51eedbac" targetNamespace="http://schemas.microsoft.com/office/2006/metadata/properties" ma:root="true" ma:fieldsID="7895aa71ad85a7a2616823a07b65eac8" ns2:_="">
    <xsd:import namespace="90e5e253-50b2-47e0-ab40-088f51eedbac"/>
    <xsd:element name="properties">
      <xsd:complexType>
        <xsd:sequence>
          <xsd:element name="documentManagement">
            <xsd:complexType>
              <xsd:all>
                <xsd:element ref="ns2:Data_x0020_Classification1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5e253-50b2-47e0-ab40-088f51eedbac" elementFormDefault="qualified">
    <xsd:import namespace="http://schemas.microsoft.com/office/2006/documentManagement/types"/>
    <xsd:import namespace="http://schemas.microsoft.com/office/infopath/2007/PartnerControls"/>
    <xsd:element name="Data_x0020_Classification1" ma:index="8" ma:displayName="Data Classification" ma:default="Confidential" ma:description="Data Classification" ma:format="Dropdown" ma:internalName="Data_x0020_Classification1" ma:readOnly="false">
      <xsd:simpleType>
        <xsd:restriction base="dms:Choice">
          <xsd:enumeration value="Confidential"/>
          <xsd:enumeration value="Public"/>
          <xsd:enumeration value="Internal"/>
          <xsd:enumeration value="Private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3267DA-65E3-4769-B095-96EEBB91F4C3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90e5e253-50b2-47e0-ab40-088f51eedbac"/>
  </ds:schemaRefs>
</ds:datastoreItem>
</file>

<file path=customXml/itemProps2.xml><?xml version="1.0" encoding="utf-8"?>
<ds:datastoreItem xmlns:ds="http://schemas.openxmlformats.org/officeDocument/2006/customXml" ds:itemID="{82264E9F-3954-45A7-82AE-60A9A60978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e5e253-50b2-47e0-ab40-088f51eedb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71D16D3-3D8E-406D-BDBC-16FA9E8572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Softtek - Banamex - Propuesta_Migracion_V3.0</Template>
  <TotalTime>2611</TotalTime>
  <Words>546</Words>
  <Application>Microsoft Office PowerPoint</Application>
  <PresentationFormat>On-screen Show (4:3)</PresentationFormat>
  <Paragraphs>147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Softtek - Banamex - Propuesta_Migracion_V3.0</vt:lpstr>
      <vt:lpstr>Original_Logo/ Upper layout</vt:lpstr>
      <vt:lpstr>Nissan – Impresiones de Calcomanias</vt:lpstr>
      <vt:lpstr>Proyecto CertLbl</vt:lpstr>
      <vt:lpstr>Historia de Modificaciones del Proyecto</vt:lpstr>
      <vt:lpstr>Código Muerto</vt:lpstr>
      <vt:lpstr>Medidas de la Aplicación</vt:lpstr>
      <vt:lpstr>Dependencia entre los archivos</vt:lpstr>
      <vt:lpstr>Funcionalidades y Requerimientos</vt:lpstr>
      <vt:lpstr>Recomendaciones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Home Depot</dc:title>
  <dc:creator>Ernesto Cortes Larriva</dc:creator>
  <cp:lastModifiedBy>Gerardo Zúñiga Jiménez</cp:lastModifiedBy>
  <cp:revision>209</cp:revision>
  <dcterms:created xsi:type="dcterms:W3CDTF">2013-08-07T13:52:06Z</dcterms:created>
  <dcterms:modified xsi:type="dcterms:W3CDTF">2014-08-29T16:23:02Z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0x010100BF73FF7AA600A74DA303202E068F3B98</vt:lpwstr>
  </property>
</Properties>
</file>